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Slab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EKnNe7uNnpQeQuy9XMtuozsit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RobotoSlab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985c312e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c985c312e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9884118f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c9884118f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985c312e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c985c312e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985c312e4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c985c312e4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985c312e4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c985c312e4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9884118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c9884118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985c312e4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c985c312e4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985c312e4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c985c312e4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985c312e4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c985c312e4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9884118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c9884118f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388e28e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5388e28e2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0"/>
          <p:cNvPicPr preferRelativeResize="0"/>
          <p:nvPr/>
        </p:nvPicPr>
        <p:blipFill rotWithShape="1">
          <a:blip r:embed="rId2">
            <a:alphaModFix/>
          </a:blip>
          <a:srcRect b="2190" l="26243" r="37229" t="0"/>
          <a:stretch/>
        </p:blipFill>
        <p:spPr>
          <a:xfrm rot="5400000">
            <a:off x="2018337" y="-2015951"/>
            <a:ext cx="5138725" cy="917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5224" y="4583675"/>
            <a:ext cx="1878774" cy="50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 rot="-453">
            <a:off x="0" y="-13226"/>
            <a:ext cx="9106200" cy="1226400"/>
          </a:xfrm>
          <a:prstGeom prst="rect">
            <a:avLst/>
          </a:prstGeom>
          <a:solidFill>
            <a:srgbClr val="B0D7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Master Slide">
  <p:cSld name="09 Master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5388e28e24_0_105"/>
          <p:cNvSpPr/>
          <p:nvPr>
            <p:ph idx="2" type="pic"/>
          </p:nvPr>
        </p:nvSpPr>
        <p:spPr>
          <a:xfrm>
            <a:off x="540000" y="540000"/>
            <a:ext cx="2031900" cy="203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" name="Google Shape;21;g35388e28e24_0_105"/>
          <p:cNvSpPr/>
          <p:nvPr>
            <p:ph idx="3" type="pic"/>
          </p:nvPr>
        </p:nvSpPr>
        <p:spPr>
          <a:xfrm>
            <a:off x="2571750" y="2571750"/>
            <a:ext cx="2031900" cy="203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8"/>
          <p:cNvSpPr txBox="1"/>
          <p:nvPr/>
        </p:nvSpPr>
        <p:spPr>
          <a:xfrm>
            <a:off x="2791135" y="1559832"/>
            <a:ext cx="5704500" cy="1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rPr b="1" i="0" lang="en" sz="50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  <a:endParaRPr b="1" i="0" sz="50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49" name="Google Shape;49;p18"/>
          <p:cNvGrpSpPr/>
          <p:nvPr/>
        </p:nvGrpSpPr>
        <p:grpSpPr>
          <a:xfrm>
            <a:off x="3449141" y="3229477"/>
            <a:ext cx="4844061" cy="1232368"/>
            <a:chOff x="2857046" y="4930225"/>
            <a:chExt cx="7616449" cy="1876036"/>
          </a:xfrm>
        </p:grpSpPr>
        <p:sp>
          <p:nvSpPr>
            <p:cNvPr id="50" name="Google Shape;50;p18"/>
            <p:cNvSpPr txBox="1"/>
            <p:nvPr/>
          </p:nvSpPr>
          <p:spPr>
            <a:xfrm>
              <a:off x="4070895" y="5236661"/>
              <a:ext cx="64026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https://www.corp.aiclub.world</a:t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1" name="Google Shape;5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57046" y="4930225"/>
              <a:ext cx="1372923" cy="13729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" name="Google Shape;52;p18"/>
          <p:cNvGrpSpPr/>
          <p:nvPr/>
        </p:nvGrpSpPr>
        <p:grpSpPr>
          <a:xfrm>
            <a:off x="3613347" y="2817861"/>
            <a:ext cx="4072097" cy="1091956"/>
            <a:chOff x="3390192" y="8871771"/>
            <a:chExt cx="6402668" cy="1662285"/>
          </a:xfrm>
        </p:grpSpPr>
        <p:pic>
          <p:nvPicPr>
            <p:cNvPr id="53" name="Google Shape;5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90192" y="8871771"/>
              <a:ext cx="950500" cy="95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18"/>
            <p:cNvSpPr txBox="1"/>
            <p:nvPr/>
          </p:nvSpPr>
          <p:spPr>
            <a:xfrm>
              <a:off x="4529660" y="8964456"/>
              <a:ext cx="52632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rPr b="0" i="0" lang="en" sz="2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info@pyxeda.ai</a:t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001449" y="4483200"/>
            <a:ext cx="1878774" cy="5045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8.jpg"/><Relationship Id="rId5" Type="http://schemas.openxmlformats.org/officeDocument/2006/relationships/image" Target="../media/image2.jpg"/><Relationship Id="rId6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"/>
          <p:cNvPicPr preferRelativeResize="0"/>
          <p:nvPr/>
        </p:nvPicPr>
        <p:blipFill rotWithShape="1">
          <a:blip r:embed="rId3">
            <a:alphaModFix/>
          </a:blip>
          <a:srcRect b="8655" l="0" r="0" t="11040"/>
          <a:stretch/>
        </p:blipFill>
        <p:spPr>
          <a:xfrm>
            <a:off x="0" y="38400"/>
            <a:ext cx="9141750" cy="510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1"/>
          <p:cNvGrpSpPr/>
          <p:nvPr/>
        </p:nvGrpSpPr>
        <p:grpSpPr>
          <a:xfrm>
            <a:off x="4192668" y="1476731"/>
            <a:ext cx="4812913" cy="1933157"/>
            <a:chOff x="2498583" y="1861457"/>
            <a:chExt cx="7197417" cy="3585232"/>
          </a:xfrm>
        </p:grpSpPr>
        <p:sp>
          <p:nvSpPr>
            <p:cNvPr id="67" name="Google Shape;67;p1"/>
            <p:cNvSpPr/>
            <p:nvPr/>
          </p:nvSpPr>
          <p:spPr>
            <a:xfrm>
              <a:off x="4296000" y="2311689"/>
              <a:ext cx="1800000" cy="3135000"/>
            </a:xfrm>
            <a:prstGeom prst="rect">
              <a:avLst/>
            </a:prstGeom>
            <a:solidFill>
              <a:srgbClr val="67ADA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093417" y="1861457"/>
              <a:ext cx="1800000" cy="3135000"/>
            </a:xfrm>
            <a:prstGeom prst="rect">
              <a:avLst/>
            </a:prstGeom>
            <a:solidFill>
              <a:srgbClr val="3D9F9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2498583" y="1861457"/>
              <a:ext cx="1800000" cy="3135000"/>
            </a:xfrm>
            <a:prstGeom prst="rect">
              <a:avLst/>
            </a:prstGeom>
            <a:solidFill>
              <a:srgbClr val="3D9F9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7896000" y="2305957"/>
              <a:ext cx="1800000" cy="3135000"/>
            </a:xfrm>
            <a:prstGeom prst="rect">
              <a:avLst/>
            </a:prstGeom>
            <a:solidFill>
              <a:srgbClr val="67ADA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1"/>
          <p:cNvSpPr txBox="1"/>
          <p:nvPr/>
        </p:nvSpPr>
        <p:spPr>
          <a:xfrm>
            <a:off x="4439125" y="1812852"/>
            <a:ext cx="48654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" sz="88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AIClub </a:t>
            </a:r>
            <a:endParaRPr b="1" i="0" sz="88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72" name="Google Shape;7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0228" y="4509115"/>
            <a:ext cx="1801559" cy="484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/>
        </p:nvSpPr>
        <p:spPr>
          <a:xfrm>
            <a:off x="455150" y="2414450"/>
            <a:ext cx="73152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" sz="3900">
                <a:latin typeface="Roboto Slab"/>
                <a:ea typeface="Roboto Slab"/>
                <a:cs typeface="Roboto Slab"/>
                <a:sym typeface="Roboto Slab"/>
              </a:rPr>
              <a:t>Introduction to </a:t>
            </a:r>
            <a:r>
              <a:rPr b="1" lang="en" sz="3900">
                <a:latin typeface="Roboto Slab"/>
                <a:ea typeface="Roboto Slab"/>
                <a:cs typeface="Roboto Slab"/>
                <a:sym typeface="Roboto Slab"/>
              </a:rPr>
              <a:t>Artificial Intelligence and Machine Learning</a:t>
            </a:r>
            <a:endParaRPr b="1" sz="39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What is Intelligence? 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513550" y="1648950"/>
            <a:ext cx="39633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Ability to learn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Ability to reason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Ability to solve problems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Ability to adapt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4" name="Google Shape;8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225" y="1507125"/>
            <a:ext cx="2129250" cy="212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985c312e4_0_8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What is Artificial Intelligence (AI)?</a:t>
            </a:r>
            <a:endParaRPr b="1" sz="17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c985c312e4_0_8"/>
          <p:cNvSpPr txBox="1"/>
          <p:nvPr>
            <p:ph idx="1" type="body"/>
          </p:nvPr>
        </p:nvSpPr>
        <p:spPr>
          <a:xfrm>
            <a:off x="366800" y="1735700"/>
            <a:ext cx="5818800" cy="12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Artificial Intelligence is the ability of machines to perform tasks that normally require human intelligence.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1" name="Google Shape;91;g3c985c312e4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050" y="1572000"/>
            <a:ext cx="1999500" cy="19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9884118fb_0_16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What is Artificial Intelligence (AI)?</a:t>
            </a:r>
            <a:endParaRPr b="1" sz="17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c9884118fb_0_16"/>
          <p:cNvSpPr txBox="1"/>
          <p:nvPr>
            <p:ph idx="1" type="body"/>
          </p:nvPr>
        </p:nvSpPr>
        <p:spPr>
          <a:xfrm>
            <a:off x="265775" y="1414225"/>
            <a:ext cx="5818800" cy="30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Artificial Intelligence is the ability of machines to perform tasks that normally require human intelligence.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Examples: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Face unlock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Google Maps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Chatbots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Recommendation systems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8" name="Google Shape;98;g3c9884118fb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575" y="2020875"/>
            <a:ext cx="1999500" cy="19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985c312e4_0_15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Formal Definition of AI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c985c312e4_0_15"/>
          <p:cNvSpPr txBox="1"/>
          <p:nvPr>
            <p:ph idx="1" type="body"/>
          </p:nvPr>
        </p:nvSpPr>
        <p:spPr>
          <a:xfrm>
            <a:off x="376225" y="1349925"/>
            <a:ext cx="6333000" cy="3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Artificial Intelligence is a branch of computer science that enables machines to mimic human intelligence such as learning, reasoning, and decision-making.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Key Words Highlighted:</a:t>
            </a:r>
            <a:b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✔ Learning</a:t>
            </a:r>
            <a:br>
              <a:rPr lang="en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✔ Reasoning</a:t>
            </a:r>
            <a:br>
              <a:rPr lang="en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✔ Decision-making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5" name="Google Shape;105;g3c985c312e4_0_15"/>
          <p:cNvPicPr preferRelativeResize="0"/>
          <p:nvPr/>
        </p:nvPicPr>
        <p:blipFill rotWithShape="1">
          <a:blip r:embed="rId3">
            <a:alphaModFix/>
          </a:blip>
          <a:srcRect b="7309" l="0" r="0" t="15998"/>
          <a:stretch/>
        </p:blipFill>
        <p:spPr>
          <a:xfrm>
            <a:off x="5501000" y="2240275"/>
            <a:ext cx="3514501" cy="21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985c312e4_2_6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Real-Life Applications of AI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c985c312e4_2_6"/>
          <p:cNvSpPr txBox="1"/>
          <p:nvPr>
            <p:ph idx="1" type="body"/>
          </p:nvPr>
        </p:nvSpPr>
        <p:spPr>
          <a:xfrm>
            <a:off x="170478" y="1364170"/>
            <a:ext cx="4719900" cy="27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Education (Personalized learning apps)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Healthcare (Disease prediction)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Transportation (Self-driving cars)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Entertainment (Netflix/YouTube recommendations)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s related to &quot;Education (Personalized learning apps)&#10;Healthcare (Disease prediction)&#10;Transportation (Self-driving cars)&#10;Entertainment (Netflix/YouTube recommendations)&#10;&quot; Only give images no text " id="112" name="Google Shape;112;g3c985c312e4_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1500" y="1398275"/>
            <a:ext cx="1451375" cy="1451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s related to &quot;Education (Personalized learning apps)&#10;Healthcare (Disease prediction)&#10;Transportation (Self-driving cars)&#10;Entertainment (Netflix/YouTube recommendations)&#10;&quot; Only give images no text " id="113" name="Google Shape;113;g3c985c312e4_2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4363" y="2897998"/>
            <a:ext cx="1371599" cy="13716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s related to &quot;Education (Personalized learning apps)&#10;Healthcare (Disease prediction)&#10;Transportation (Self-driving cars)&#10;Entertainment (Netflix/YouTube recommendations)&#10;&quot; Only give images no text " id="114" name="Google Shape;114;g3c985c312e4_2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9296" y="1565425"/>
            <a:ext cx="1284225" cy="1284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s related to &quot;Education (Personalized learning apps)&#10;Healthcare (Disease prediction)&#10;Transportation (Self-driving cars)&#10;Entertainment (Netflix/YouTube recommendations)&#10;&quot; Only give images no text " id="115" name="Google Shape;115;g3c985c312e4_2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56175" y="2898000"/>
            <a:ext cx="1451375" cy="1451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985c312e4_2_12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What is Machine Learning (ML)?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c985c312e4_2_12"/>
          <p:cNvSpPr txBox="1"/>
          <p:nvPr>
            <p:ph idx="1" type="body"/>
          </p:nvPr>
        </p:nvSpPr>
        <p:spPr>
          <a:xfrm>
            <a:off x="376225" y="1349925"/>
            <a:ext cx="55338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Machine Learning is a subset of AI that allows machines to learn from data and improve without being explicitly programmed.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Important Point: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AI is a big concept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ML is one way to achieve AI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2" name="Google Shape;122;g3c985c312e4_2_12" title="Screenshot 2026-02-20 at 8.44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350" y="1473125"/>
            <a:ext cx="2497950" cy="248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9884118fb_0_10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Types of Machine Learning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g3c9884118fb_0_10" title="Gemini_Generated_Image_v1gtchv1gtchv1g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75" y="1310650"/>
            <a:ext cx="6874900" cy="336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985c312e4_2_18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AI vs Machine Learning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c985c312e4_2_18"/>
          <p:cNvSpPr txBox="1"/>
          <p:nvPr>
            <p:ph idx="1" type="body"/>
          </p:nvPr>
        </p:nvSpPr>
        <p:spPr>
          <a:xfrm>
            <a:off x="376225" y="1349925"/>
            <a:ext cx="3448800" cy="19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Artificial Intelligence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Broad concept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Makes machines intelligent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Can be rule-based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g3c985c312e4_2_18"/>
          <p:cNvSpPr txBox="1"/>
          <p:nvPr>
            <p:ph idx="1" type="body"/>
          </p:nvPr>
        </p:nvSpPr>
        <p:spPr>
          <a:xfrm>
            <a:off x="4698525" y="1375575"/>
            <a:ext cx="3893400" cy="18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Machine Learning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Subset of AI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Helps machines learn from data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Always data-driven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36" name="Google Shape;136;g3c985c312e4_2_18"/>
          <p:cNvCxnSpPr/>
          <p:nvPr/>
        </p:nvCxnSpPr>
        <p:spPr>
          <a:xfrm>
            <a:off x="4348577" y="1312625"/>
            <a:ext cx="9300" cy="208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985c312e4_2_25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Example to Understand ML</a:t>
            </a:r>
            <a:endParaRPr b="1" sz="17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c985c312e4_2_25"/>
          <p:cNvSpPr txBox="1"/>
          <p:nvPr>
            <p:ph idx="1" type="body"/>
          </p:nvPr>
        </p:nvSpPr>
        <p:spPr>
          <a:xfrm>
            <a:off x="376225" y="1349925"/>
            <a:ext cx="5359200" cy="30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Example: Spam Email Filter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Instead of manually writing rules,  the system learns from thousands of spam emails.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It improves over time.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Working flow: 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Data → Pattern → Prediction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3" name="Google Shape;143;g3c985c312e4_2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2725" y="1815800"/>
            <a:ext cx="3103775" cy="1745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985c312e4_2_31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300">
                <a:latin typeface="Calibri"/>
                <a:ea typeface="Calibri"/>
                <a:cs typeface="Calibri"/>
                <a:sym typeface="Calibri"/>
              </a:rPr>
              <a:t>Quick Classroom Activity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c985c312e4_2_31"/>
          <p:cNvSpPr txBox="1"/>
          <p:nvPr>
            <p:ph idx="1" type="body"/>
          </p:nvPr>
        </p:nvSpPr>
        <p:spPr>
          <a:xfrm>
            <a:off x="311700" y="1610188"/>
            <a:ext cx="3531600" cy="20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Think–Pair–Share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Identify whether the example is: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AI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ML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Both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50" name="Google Shape;150;g3c985c312e4_2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6850" y="1551963"/>
            <a:ext cx="3846950" cy="216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9884118fb_0_4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300">
                <a:latin typeface="Calibri"/>
                <a:ea typeface="Calibri"/>
                <a:cs typeface="Calibri"/>
                <a:sym typeface="Calibri"/>
              </a:rPr>
              <a:t>Quick Classroom Activity</a:t>
            </a:r>
            <a:endParaRPr b="1"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c9884118fb_0_4"/>
          <p:cNvSpPr txBox="1"/>
          <p:nvPr>
            <p:ph idx="1" type="body"/>
          </p:nvPr>
        </p:nvSpPr>
        <p:spPr>
          <a:xfrm>
            <a:off x="376225" y="1349925"/>
            <a:ext cx="3531600" cy="25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Think–Pair–Share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Identify whether the example is: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AI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ML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Both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None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57" name="Google Shape;157;g3c9884118fb_0_4"/>
          <p:cNvSpPr txBox="1"/>
          <p:nvPr>
            <p:ph idx="1" type="body"/>
          </p:nvPr>
        </p:nvSpPr>
        <p:spPr>
          <a:xfrm>
            <a:off x="4625050" y="1419400"/>
            <a:ext cx="3531600" cy="27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Examples: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Calculator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Face Recognition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Auto-correct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Netflix Recommendation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Chess-playing computer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5388e28e24_0_0"/>
          <p:cNvPicPr preferRelativeResize="0"/>
          <p:nvPr/>
        </p:nvPicPr>
        <p:blipFill rotWithShape="1">
          <a:blip r:embed="rId3">
            <a:alphaModFix/>
          </a:blip>
          <a:srcRect b="2489" l="5086" r="0" t="21287"/>
          <a:stretch/>
        </p:blipFill>
        <p:spPr>
          <a:xfrm>
            <a:off x="0" y="-42337"/>
            <a:ext cx="9143994" cy="520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5388e28e24_0_0"/>
          <p:cNvPicPr preferRelativeResize="0"/>
          <p:nvPr/>
        </p:nvPicPr>
        <p:blipFill rotWithShape="1">
          <a:blip r:embed="rId4">
            <a:alphaModFix/>
          </a:blip>
          <a:srcRect b="34636" l="0" r="0" t="36906"/>
          <a:stretch/>
        </p:blipFill>
        <p:spPr>
          <a:xfrm>
            <a:off x="7301537" y="4403035"/>
            <a:ext cx="1462774" cy="43895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5388e28e24_0_0"/>
          <p:cNvSpPr txBox="1"/>
          <p:nvPr/>
        </p:nvSpPr>
        <p:spPr>
          <a:xfrm>
            <a:off x="2747335" y="1273527"/>
            <a:ext cx="6502500" cy="1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" sz="58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  <a:endParaRPr b="1" i="0" sz="58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65" name="Google Shape;165;g35388e28e24_0_0"/>
          <p:cNvGrpSpPr/>
          <p:nvPr/>
        </p:nvGrpSpPr>
        <p:grpSpPr>
          <a:xfrm>
            <a:off x="4077942" y="3137452"/>
            <a:ext cx="4667160" cy="1375707"/>
            <a:chOff x="3658225" y="4930225"/>
            <a:chExt cx="6438350" cy="1876050"/>
          </a:xfrm>
        </p:grpSpPr>
        <p:sp>
          <p:nvSpPr>
            <p:cNvPr id="166" name="Google Shape;166;g35388e28e24_0_0"/>
            <p:cNvSpPr txBox="1"/>
            <p:nvPr/>
          </p:nvSpPr>
          <p:spPr>
            <a:xfrm>
              <a:off x="4833375" y="5236675"/>
              <a:ext cx="52632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0" i="0" lang="en" sz="3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https://aiclub.world</a:t>
              </a:r>
              <a:endParaRPr b="0" i="0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7" name="Google Shape;167;g35388e28e24_0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58225" y="4930225"/>
              <a:ext cx="1372923" cy="13729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g35388e28e24_0_0"/>
          <p:cNvGrpSpPr/>
          <p:nvPr/>
        </p:nvGrpSpPr>
        <p:grpSpPr>
          <a:xfrm>
            <a:off x="4231049" y="2591739"/>
            <a:ext cx="4514052" cy="1237563"/>
            <a:chOff x="3869437" y="5855787"/>
            <a:chExt cx="6227138" cy="1687663"/>
          </a:xfrm>
        </p:grpSpPr>
        <p:pic>
          <p:nvPicPr>
            <p:cNvPr id="169" name="Google Shape;169;g35388e28e24_0_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869437" y="5855787"/>
              <a:ext cx="950500" cy="95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g35388e28e24_0_0"/>
            <p:cNvSpPr txBox="1"/>
            <p:nvPr/>
          </p:nvSpPr>
          <p:spPr>
            <a:xfrm>
              <a:off x="4833375" y="5973850"/>
              <a:ext cx="52632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0" i="0" lang="en" sz="3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info@pyxeda.ai</a:t>
              </a:r>
              <a:endParaRPr b="0" i="0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