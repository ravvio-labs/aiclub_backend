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5143500" cx="9144000"/>
  <p:notesSz cx="6858000" cy="9144000"/>
  <p:embeddedFontLst>
    <p:embeddedFont>
      <p:font typeface="Roboto Slab"/>
      <p:regular r:id="rId23"/>
      <p:bold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25" roundtripDataSignature="AMtx7mhY4PenODJw5LHsmCyouhMryjS0i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RobotoSlab-bold.fntdata"/><Relationship Id="rId23" Type="http://schemas.openxmlformats.org/officeDocument/2006/relationships/font" Target="fonts/RobotoSlab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" name="Google Shape;6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1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ca40ed8a8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g3ca40ed8a8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ca69a5bea2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7" name="Google Shape;177;g3ca69a5bea2_0_3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9.png"/><Relationship Id="rId4" Type="http://schemas.openxmlformats.org/officeDocument/2006/relationships/image" Target="../media/image1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19"/>
          <p:cNvPicPr preferRelativeResize="0"/>
          <p:nvPr/>
        </p:nvPicPr>
        <p:blipFill rotWithShape="1">
          <a:blip r:embed="rId2">
            <a:alphaModFix/>
          </a:blip>
          <a:srcRect b="2190" l="26243" r="37230" t="0"/>
          <a:stretch/>
        </p:blipFill>
        <p:spPr>
          <a:xfrm rot="5400000">
            <a:off x="2018337" y="-2015951"/>
            <a:ext cx="5138725" cy="9175401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3" name="Google Shape;1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65224" y="4583675"/>
            <a:ext cx="1878774" cy="504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0"/>
          <p:cNvSpPr/>
          <p:nvPr/>
        </p:nvSpPr>
        <p:spPr>
          <a:xfrm rot="-453">
            <a:off x="0" y="-13226"/>
            <a:ext cx="9106200" cy="1226400"/>
          </a:xfrm>
          <a:prstGeom prst="rect">
            <a:avLst/>
          </a:prstGeom>
          <a:solidFill>
            <a:srgbClr val="B0D7D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8" name="Google Shape;18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1" name="Google Shape;21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22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22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4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24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5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6" name="Google Shape;36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26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0" name="Google Shape;40;p26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1" name="Google Shape;41;p26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" name="Google Shape;42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5" name="Google Shape;45;p27"/>
          <p:cNvSpPr txBox="1"/>
          <p:nvPr/>
        </p:nvSpPr>
        <p:spPr>
          <a:xfrm>
            <a:off x="2791135" y="1559832"/>
            <a:ext cx="5704500" cy="10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700"/>
              <a:buFont typeface="Arial"/>
              <a:buNone/>
            </a:pPr>
            <a:r>
              <a:rPr b="1" i="0" lang="en" sz="50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THANK YOU</a:t>
            </a:r>
            <a:endParaRPr b="1" i="0" sz="5000" u="none" cap="none" strike="noStrike">
              <a:solidFill>
                <a:srgbClr val="000000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grpSp>
        <p:nvGrpSpPr>
          <p:cNvPr id="46" name="Google Shape;46;p27"/>
          <p:cNvGrpSpPr/>
          <p:nvPr/>
        </p:nvGrpSpPr>
        <p:grpSpPr>
          <a:xfrm>
            <a:off x="3449141" y="3229477"/>
            <a:ext cx="4844061" cy="1232368"/>
            <a:chOff x="2857046" y="4930225"/>
            <a:chExt cx="7616449" cy="1876036"/>
          </a:xfrm>
        </p:grpSpPr>
        <p:sp>
          <p:nvSpPr>
            <p:cNvPr id="47" name="Google Shape;47;p27"/>
            <p:cNvSpPr txBox="1"/>
            <p:nvPr/>
          </p:nvSpPr>
          <p:spPr>
            <a:xfrm>
              <a:off x="4070895" y="5236661"/>
              <a:ext cx="6402600" cy="156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600"/>
                <a:buFont typeface="Arial"/>
                <a:buNone/>
              </a:pPr>
              <a:r>
                <a:rPr b="0" i="0" lang="en" sz="24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https://www.corp.aiclub.world</a:t>
              </a:r>
              <a:endParaRPr b="0" i="0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48" name="Google Shape;48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857046" y="4930225"/>
              <a:ext cx="1372923" cy="137292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9" name="Google Shape;49;p27"/>
          <p:cNvGrpSpPr/>
          <p:nvPr/>
        </p:nvGrpSpPr>
        <p:grpSpPr>
          <a:xfrm>
            <a:off x="3613347" y="2817861"/>
            <a:ext cx="4072097" cy="1091956"/>
            <a:chOff x="3390192" y="8871771"/>
            <a:chExt cx="6402668" cy="1662285"/>
          </a:xfrm>
        </p:grpSpPr>
        <p:pic>
          <p:nvPicPr>
            <p:cNvPr id="50" name="Google Shape;50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390192" y="8871771"/>
              <a:ext cx="950500" cy="950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" name="Google Shape;51;p27"/>
            <p:cNvSpPr txBox="1"/>
            <p:nvPr/>
          </p:nvSpPr>
          <p:spPr>
            <a:xfrm>
              <a:off x="4529660" y="8964456"/>
              <a:ext cx="5263200" cy="156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600"/>
                <a:buFont typeface="Arial"/>
                <a:buNone/>
              </a:pPr>
              <a:r>
                <a:rPr b="0" i="0" lang="en" sz="2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info@pyxeda.ai</a:t>
              </a:r>
              <a:endParaRPr b="0" i="0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8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4" name="Google Shape;54;p28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9 Master Slide">
  <p:cSld name="09 Master Slide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ca69a5bea2_0_99"/>
          <p:cNvSpPr/>
          <p:nvPr>
            <p:ph idx="2" type="pic"/>
          </p:nvPr>
        </p:nvSpPr>
        <p:spPr>
          <a:xfrm>
            <a:off x="540000" y="540000"/>
            <a:ext cx="2031900" cy="20319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60" name="Google Shape;60;g3ca69a5bea2_0_99"/>
          <p:cNvSpPr/>
          <p:nvPr>
            <p:ph idx="3" type="pic"/>
          </p:nvPr>
        </p:nvSpPr>
        <p:spPr>
          <a:xfrm>
            <a:off x="2571750" y="2571750"/>
            <a:ext cx="2031900" cy="20319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" name="Google Shape;9;p18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7001449" y="4483200"/>
            <a:ext cx="1878774" cy="504549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0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6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Relationship Id="rId4" Type="http://schemas.openxmlformats.org/officeDocument/2006/relationships/image" Target="../media/image14.png"/><Relationship Id="rId5" Type="http://schemas.openxmlformats.org/officeDocument/2006/relationships/image" Target="../media/image9.png"/><Relationship Id="rId6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1"/>
          <p:cNvPicPr preferRelativeResize="0"/>
          <p:nvPr/>
        </p:nvPicPr>
        <p:blipFill rotWithShape="1">
          <a:blip r:embed="rId3">
            <a:alphaModFix/>
          </a:blip>
          <a:srcRect b="8656" l="0" r="0" t="11041"/>
          <a:stretch/>
        </p:blipFill>
        <p:spPr>
          <a:xfrm>
            <a:off x="0" y="38400"/>
            <a:ext cx="9141750" cy="51051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6" name="Google Shape;66;p1"/>
          <p:cNvGrpSpPr/>
          <p:nvPr/>
        </p:nvGrpSpPr>
        <p:grpSpPr>
          <a:xfrm>
            <a:off x="4192668" y="1476731"/>
            <a:ext cx="4812913" cy="1933157"/>
            <a:chOff x="2498583" y="1861457"/>
            <a:chExt cx="7197417" cy="3585232"/>
          </a:xfrm>
        </p:grpSpPr>
        <p:sp>
          <p:nvSpPr>
            <p:cNvPr id="67" name="Google Shape;67;p1"/>
            <p:cNvSpPr/>
            <p:nvPr/>
          </p:nvSpPr>
          <p:spPr>
            <a:xfrm>
              <a:off x="4296000" y="2311689"/>
              <a:ext cx="1800000" cy="3135000"/>
            </a:xfrm>
            <a:prstGeom prst="rect">
              <a:avLst/>
            </a:prstGeom>
            <a:solidFill>
              <a:srgbClr val="67ADA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" name="Google Shape;68;p1"/>
            <p:cNvSpPr/>
            <p:nvPr/>
          </p:nvSpPr>
          <p:spPr>
            <a:xfrm>
              <a:off x="6093417" y="1861457"/>
              <a:ext cx="1800000" cy="3135000"/>
            </a:xfrm>
            <a:prstGeom prst="rect">
              <a:avLst/>
            </a:prstGeom>
            <a:solidFill>
              <a:srgbClr val="3D9F9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" name="Google Shape;69;p1"/>
            <p:cNvSpPr/>
            <p:nvPr/>
          </p:nvSpPr>
          <p:spPr>
            <a:xfrm>
              <a:off x="2498583" y="1861457"/>
              <a:ext cx="1800000" cy="3135000"/>
            </a:xfrm>
            <a:prstGeom prst="rect">
              <a:avLst/>
            </a:prstGeom>
            <a:solidFill>
              <a:srgbClr val="3D9F9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" name="Google Shape;70;p1"/>
            <p:cNvSpPr/>
            <p:nvPr/>
          </p:nvSpPr>
          <p:spPr>
            <a:xfrm>
              <a:off x="7896000" y="2305957"/>
              <a:ext cx="1800000" cy="3135000"/>
            </a:xfrm>
            <a:prstGeom prst="rect">
              <a:avLst/>
            </a:prstGeom>
            <a:solidFill>
              <a:srgbClr val="67ADA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1" name="Google Shape;71;p1"/>
          <p:cNvSpPr txBox="1"/>
          <p:nvPr/>
        </p:nvSpPr>
        <p:spPr>
          <a:xfrm>
            <a:off x="4439125" y="1812852"/>
            <a:ext cx="4865400" cy="8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Arial"/>
              <a:buNone/>
            </a:pPr>
            <a:r>
              <a:rPr b="1" i="0" lang="en" sz="88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AIClub </a:t>
            </a:r>
            <a:endParaRPr b="1" i="0" sz="8800" u="none" cap="none" strike="noStrike">
              <a:solidFill>
                <a:srgbClr val="000000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pic>
        <p:nvPicPr>
          <p:cNvPr id="72" name="Google Shape;72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40228" y="4509115"/>
            <a:ext cx="1801559" cy="4844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"/>
          <p:cNvSpPr txBox="1"/>
          <p:nvPr/>
        </p:nvSpPr>
        <p:spPr>
          <a:xfrm>
            <a:off x="452825" y="3534500"/>
            <a:ext cx="73152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4800" u="none" cap="none" strike="noStrike">
                <a:solidFill>
                  <a:srgbClr val="000000"/>
                </a:solidFill>
              </a:rPr>
              <a:t>AI Project Cycle</a:t>
            </a:r>
            <a:endParaRPr b="1" sz="4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b="1" lang="en"/>
              <a:t>What is AI P</a:t>
            </a:r>
            <a:r>
              <a:rPr b="1" lang="en"/>
              <a:t>roject Cycle?</a:t>
            </a:r>
            <a:endParaRPr b="1"/>
          </a:p>
        </p:txBody>
      </p:sp>
      <p:sp>
        <p:nvSpPr>
          <p:cNvPr id="83" name="Google Shape;83;p4"/>
          <p:cNvSpPr txBox="1"/>
          <p:nvPr>
            <p:ph idx="1" type="body"/>
          </p:nvPr>
        </p:nvSpPr>
        <p:spPr>
          <a:xfrm>
            <a:off x="483775" y="1495775"/>
            <a:ext cx="5374500" cy="31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AI Project Cycle is a step-by-step process used to build an AI-based solution.</a:t>
            </a:r>
            <a:br>
              <a:rPr lang="e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 helps us: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lang="e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Solve real-world problems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lang="e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data effectively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lang="e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Build intelligent systems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84" name="Google Shape;84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27750" y="1861375"/>
            <a:ext cx="1931451" cy="1931451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The 5 Stages of AI Project Cycle</a:t>
            </a:r>
            <a:endParaRPr b="1"/>
          </a:p>
        </p:txBody>
      </p:sp>
      <p:sp>
        <p:nvSpPr>
          <p:cNvPr id="90" name="Google Shape;90;p5"/>
          <p:cNvSpPr txBox="1"/>
          <p:nvPr>
            <p:ph idx="1" type="body"/>
          </p:nvPr>
        </p:nvSpPr>
        <p:spPr>
          <a:xfrm>
            <a:off x="245550" y="1456750"/>
            <a:ext cx="5415000" cy="334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AI Project Cycle has 5 stages: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1. Problem Scoping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2. Data Acquisition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3. Data Exploration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4. Modelling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5. Evaluation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Each stage is connected and important.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descr="Make background white" id="91" name="Google Shape;91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17125" y="1725750"/>
            <a:ext cx="2248300" cy="2248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b="1" lang="en"/>
              <a:t>Stage 1 – Problem Scoping</a:t>
            </a:r>
            <a:endParaRPr b="1"/>
          </a:p>
        </p:txBody>
      </p:sp>
      <p:sp>
        <p:nvSpPr>
          <p:cNvPr id="97" name="Google Shape;97;p6"/>
          <p:cNvSpPr txBox="1"/>
          <p:nvPr>
            <p:ph idx="1" type="body"/>
          </p:nvPr>
        </p:nvSpPr>
        <p:spPr>
          <a:xfrm>
            <a:off x="258775" y="1417075"/>
            <a:ext cx="5868900" cy="27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Problem Scoping means clearly defining the problem.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Before building AI, we must understand: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429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What is the problem?</a:t>
            </a:r>
            <a:endParaRPr>
              <a:solidFill>
                <a:schemeClr val="dk1"/>
              </a:solidFill>
            </a:endParaRPr>
          </a:p>
          <a:p>
            <a:pPr indent="-3429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Who is affected?</a:t>
            </a:r>
            <a:endParaRPr>
              <a:solidFill>
                <a:schemeClr val="dk1"/>
              </a:solidFill>
            </a:endParaRPr>
          </a:p>
          <a:p>
            <a:pPr indent="-3429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Why is it important?</a:t>
            </a:r>
            <a:endParaRPr/>
          </a:p>
        </p:txBody>
      </p:sp>
      <p:pic>
        <p:nvPicPr>
          <p:cNvPr id="98" name="Google Shape;98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60317" y="1709875"/>
            <a:ext cx="1667100" cy="1667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b="1" lang="en"/>
              <a:t>4Ws Framework</a:t>
            </a:r>
            <a:endParaRPr b="1"/>
          </a:p>
        </p:txBody>
      </p:sp>
      <p:sp>
        <p:nvSpPr>
          <p:cNvPr id="104" name="Google Shape;104;p7"/>
          <p:cNvSpPr txBox="1"/>
          <p:nvPr>
            <p:ph idx="1" type="body"/>
          </p:nvPr>
        </p:nvSpPr>
        <p:spPr>
          <a:xfrm>
            <a:off x="179400" y="1443525"/>
            <a:ext cx="4559400" cy="21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34327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>
                <a:solidFill>
                  <a:schemeClr val="dk1"/>
                </a:solidFill>
              </a:rPr>
              <a:t>WHO      </a:t>
            </a:r>
            <a:r>
              <a:rPr lang="en">
                <a:solidFill>
                  <a:schemeClr val="dk1"/>
                </a:solidFill>
              </a:rPr>
              <a:t>– Who is affected?</a:t>
            </a:r>
            <a:endParaRPr>
              <a:solidFill>
                <a:schemeClr val="dk1"/>
              </a:solidFill>
            </a:endParaRPr>
          </a:p>
          <a:p>
            <a:pPr indent="-334327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>
                <a:solidFill>
                  <a:schemeClr val="dk1"/>
                </a:solidFill>
              </a:rPr>
              <a:t>WHAT</a:t>
            </a:r>
            <a:r>
              <a:rPr lang="en">
                <a:solidFill>
                  <a:schemeClr val="dk1"/>
                </a:solidFill>
              </a:rPr>
              <a:t>    – What is the problem?</a:t>
            </a:r>
            <a:endParaRPr>
              <a:solidFill>
                <a:schemeClr val="dk1"/>
              </a:solidFill>
            </a:endParaRPr>
          </a:p>
          <a:p>
            <a:pPr indent="-334327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>
                <a:solidFill>
                  <a:schemeClr val="dk1"/>
                </a:solidFill>
              </a:rPr>
              <a:t>WHERE</a:t>
            </a:r>
            <a:r>
              <a:rPr lang="en">
                <a:solidFill>
                  <a:schemeClr val="dk1"/>
                </a:solidFill>
              </a:rPr>
              <a:t> – Where does it occur?</a:t>
            </a:r>
            <a:endParaRPr>
              <a:solidFill>
                <a:schemeClr val="dk1"/>
              </a:solidFill>
            </a:endParaRPr>
          </a:p>
          <a:p>
            <a:pPr indent="-334327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>
                <a:solidFill>
                  <a:schemeClr val="dk1"/>
                </a:solidFill>
              </a:rPr>
              <a:t>WHY</a:t>
            </a:r>
            <a:r>
              <a:rPr lang="en">
                <a:solidFill>
                  <a:schemeClr val="dk1"/>
                </a:solidFill>
              </a:rPr>
              <a:t>      – Why is it important?</a:t>
            </a:r>
            <a:endParaRPr>
              <a:solidFill>
                <a:schemeClr val="dk1"/>
              </a:solidFill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A clear problem leads to a better solution.</a:t>
            </a:r>
            <a:endParaRPr/>
          </a:p>
        </p:txBody>
      </p:sp>
      <p:pic>
        <p:nvPicPr>
          <p:cNvPr id="105" name="Google Shape;105;p7"/>
          <p:cNvPicPr preferRelativeResize="0"/>
          <p:nvPr/>
        </p:nvPicPr>
        <p:blipFill rotWithShape="1">
          <a:blip r:embed="rId3">
            <a:alphaModFix/>
          </a:blip>
          <a:srcRect b="9684" l="0" r="0" t="19369"/>
          <a:stretch/>
        </p:blipFill>
        <p:spPr>
          <a:xfrm>
            <a:off x="4731900" y="1405762"/>
            <a:ext cx="4100399" cy="22754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b="1" lang="en"/>
              <a:t>Stage 2 – Data Acquisition</a:t>
            </a:r>
            <a:endParaRPr b="1"/>
          </a:p>
        </p:txBody>
      </p:sp>
      <p:sp>
        <p:nvSpPr>
          <p:cNvPr id="111" name="Google Shape;111;p8"/>
          <p:cNvSpPr txBox="1"/>
          <p:nvPr>
            <p:ph idx="1" type="body"/>
          </p:nvPr>
        </p:nvSpPr>
        <p:spPr>
          <a:xfrm>
            <a:off x="311700" y="1478788"/>
            <a:ext cx="4519500" cy="17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Data Acquisition means collecting relevant data related to the problem.</a:t>
            </a:r>
            <a:endParaRPr>
              <a:solidFill>
                <a:schemeClr val="dk1"/>
              </a:solidFill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34327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>
                <a:solidFill>
                  <a:schemeClr val="dk1"/>
                </a:solidFill>
              </a:rPr>
              <a:t>AI systems learn from data.</a:t>
            </a:r>
            <a:endParaRPr>
              <a:solidFill>
                <a:schemeClr val="dk1"/>
              </a:solidFill>
            </a:endParaRPr>
          </a:p>
          <a:p>
            <a:pPr indent="-334327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>
                <a:solidFill>
                  <a:schemeClr val="dk1"/>
                </a:solidFill>
              </a:rPr>
              <a:t>Without data, AI cannot work.</a:t>
            </a:r>
            <a:endParaRPr/>
          </a:p>
        </p:txBody>
      </p:sp>
      <p:pic>
        <p:nvPicPr>
          <p:cNvPr id="112" name="Google Shape;112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24900" y="1645700"/>
            <a:ext cx="2115075" cy="2115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b="1" lang="en"/>
              <a:t>Types &amp; Sources of Data</a:t>
            </a:r>
            <a:endParaRPr b="1"/>
          </a:p>
        </p:txBody>
      </p:sp>
      <p:sp>
        <p:nvSpPr>
          <p:cNvPr id="118" name="Google Shape;118;p9"/>
          <p:cNvSpPr txBox="1"/>
          <p:nvPr>
            <p:ph idx="1" type="body"/>
          </p:nvPr>
        </p:nvSpPr>
        <p:spPr>
          <a:xfrm>
            <a:off x="192637" y="1258317"/>
            <a:ext cx="4559400" cy="37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Types:</a:t>
            </a:r>
            <a:endParaRPr>
              <a:solidFill>
                <a:schemeClr val="dk1"/>
              </a:solidFill>
            </a:endParaRPr>
          </a:p>
          <a:p>
            <a:pPr indent="-3429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Structured (tables, numbers)</a:t>
            </a:r>
            <a:endParaRPr>
              <a:solidFill>
                <a:schemeClr val="dk1"/>
              </a:solidFill>
            </a:endParaRPr>
          </a:p>
          <a:p>
            <a:pPr indent="-3429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Unstructured (images, videos, text)</a:t>
            </a:r>
            <a:endParaRPr>
              <a:solidFill>
                <a:schemeClr val="dk1"/>
              </a:solidFill>
            </a:endParaRPr>
          </a:p>
          <a:p>
            <a:pPr indent="-3429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Sources:</a:t>
            </a:r>
            <a:endParaRPr>
              <a:solidFill>
                <a:schemeClr val="dk1"/>
              </a:solidFill>
            </a:endParaRPr>
          </a:p>
          <a:p>
            <a:pPr indent="-3429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Surveys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Sensors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Cameras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Websites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Databases</a:t>
            </a:r>
            <a:endParaRPr sz="1800"/>
          </a:p>
        </p:txBody>
      </p:sp>
      <p:pic>
        <p:nvPicPr>
          <p:cNvPr id="119" name="Google Shape;119;p9"/>
          <p:cNvPicPr preferRelativeResize="0"/>
          <p:nvPr/>
        </p:nvPicPr>
        <p:blipFill rotWithShape="1">
          <a:blip r:embed="rId3">
            <a:alphaModFix/>
          </a:blip>
          <a:srcRect b="17478" l="0" r="0" t="0"/>
          <a:stretch/>
        </p:blipFill>
        <p:spPr>
          <a:xfrm>
            <a:off x="5498550" y="1461175"/>
            <a:ext cx="3333750" cy="275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b="1" lang="en"/>
              <a:t>Stage 3 – Data </a:t>
            </a:r>
            <a:r>
              <a:rPr b="1" lang="en"/>
              <a:t>E</a:t>
            </a:r>
            <a:r>
              <a:rPr b="1" lang="en"/>
              <a:t>xploration</a:t>
            </a:r>
            <a:endParaRPr b="1"/>
          </a:p>
        </p:txBody>
      </p:sp>
      <p:sp>
        <p:nvSpPr>
          <p:cNvPr id="125" name="Google Shape;125;p10"/>
          <p:cNvSpPr txBox="1"/>
          <p:nvPr>
            <p:ph idx="1" type="body"/>
          </p:nvPr>
        </p:nvSpPr>
        <p:spPr>
          <a:xfrm>
            <a:off x="166174" y="1377375"/>
            <a:ext cx="54417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Data Exploration means analyzing the collected data to find patterns and trends.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We check:</a:t>
            </a:r>
            <a:endParaRPr>
              <a:solidFill>
                <a:schemeClr val="dk1"/>
              </a:solidFill>
            </a:endParaRPr>
          </a:p>
          <a:p>
            <a:pPr indent="-3429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Missing value</a:t>
            </a:r>
            <a:r>
              <a:rPr lang="en">
                <a:solidFill>
                  <a:schemeClr val="dk1"/>
                </a:solidFill>
              </a:rPr>
              <a:t>s</a:t>
            </a:r>
            <a:endParaRPr>
              <a:solidFill>
                <a:schemeClr val="dk1"/>
              </a:solidFill>
            </a:endParaRPr>
          </a:p>
          <a:p>
            <a:pPr indent="-3429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Error</a:t>
            </a:r>
            <a:endParaRPr>
              <a:solidFill>
                <a:schemeClr val="dk1"/>
              </a:solidFill>
            </a:endParaRPr>
          </a:p>
          <a:p>
            <a:pPr indent="-3429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Trends</a:t>
            </a:r>
            <a:endParaRPr>
              <a:solidFill>
                <a:schemeClr val="dk1"/>
              </a:solidFill>
            </a:endParaRPr>
          </a:p>
          <a:p>
            <a:pPr indent="-3429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Relationships</a:t>
            </a:r>
            <a:endParaRPr/>
          </a:p>
        </p:txBody>
      </p:sp>
      <p:pic>
        <p:nvPicPr>
          <p:cNvPr id="126" name="Google Shape;126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93976" y="1816800"/>
            <a:ext cx="2089550" cy="2089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b="1" lang="en"/>
              <a:t>Tools Used in Data Exploration</a:t>
            </a:r>
            <a:endParaRPr b="1"/>
          </a:p>
        </p:txBody>
      </p:sp>
      <p:sp>
        <p:nvSpPr>
          <p:cNvPr id="132" name="Google Shape;132;p11"/>
          <p:cNvSpPr txBox="1"/>
          <p:nvPr>
            <p:ph idx="1" type="body"/>
          </p:nvPr>
        </p:nvSpPr>
        <p:spPr>
          <a:xfrm>
            <a:off x="285250" y="1456750"/>
            <a:ext cx="5006100" cy="250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Graphs</a:t>
            </a:r>
            <a:endParaRPr>
              <a:solidFill>
                <a:schemeClr val="dk1"/>
              </a:solidFill>
            </a:endParaRPr>
          </a:p>
          <a:p>
            <a:pPr indent="-3429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Charts</a:t>
            </a:r>
            <a:endParaRPr>
              <a:solidFill>
                <a:schemeClr val="dk1"/>
              </a:solidFill>
            </a:endParaRPr>
          </a:p>
          <a:p>
            <a:pPr indent="-3429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Averages</a:t>
            </a:r>
            <a:endParaRPr>
              <a:solidFill>
                <a:schemeClr val="dk1"/>
              </a:solidFill>
            </a:endParaRPr>
          </a:p>
          <a:p>
            <a:pPr indent="-3429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Comparison. </a:t>
            </a:r>
            <a:endParaRPr>
              <a:solidFill>
                <a:schemeClr val="dk1"/>
              </a:solidFill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Goal: Understand data before building model.</a:t>
            </a:r>
            <a:endParaRPr/>
          </a:p>
        </p:txBody>
      </p:sp>
      <p:pic>
        <p:nvPicPr>
          <p:cNvPr descr="Graphs&#10;Charts&#10;Averages&#10;Comparison. &#10; - clipart based on above " id="133" name="Google Shape;133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18250" y="1601237"/>
            <a:ext cx="2215124" cy="22151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b="1" lang="en"/>
              <a:t>Stage 4 – Modelling</a:t>
            </a:r>
            <a:endParaRPr b="1"/>
          </a:p>
        </p:txBody>
      </p:sp>
      <p:sp>
        <p:nvSpPr>
          <p:cNvPr id="139" name="Google Shape;139;p12"/>
          <p:cNvSpPr txBox="1"/>
          <p:nvPr>
            <p:ph idx="1" type="body"/>
          </p:nvPr>
        </p:nvSpPr>
        <p:spPr>
          <a:xfrm>
            <a:off x="285275" y="1390600"/>
            <a:ext cx="4636800" cy="342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Modelling means building an AI model using Machine Learning.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The model:</a:t>
            </a:r>
            <a:endParaRPr>
              <a:solidFill>
                <a:schemeClr val="dk1"/>
              </a:solidFill>
            </a:endParaRPr>
          </a:p>
          <a:p>
            <a:pPr indent="-3429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Learns from data</a:t>
            </a:r>
            <a:endParaRPr>
              <a:solidFill>
                <a:schemeClr val="dk1"/>
              </a:solidFill>
            </a:endParaRPr>
          </a:p>
          <a:p>
            <a:pPr indent="-3429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Finds patterns</a:t>
            </a:r>
            <a:endParaRPr>
              <a:solidFill>
                <a:schemeClr val="dk1"/>
              </a:solidFill>
            </a:endParaRPr>
          </a:p>
          <a:p>
            <a:pPr indent="-3429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Makes predictions</a:t>
            </a:r>
            <a:endParaRPr/>
          </a:p>
        </p:txBody>
      </p:sp>
      <p:pic>
        <p:nvPicPr>
          <p:cNvPr id="140" name="Google Shape;140;p12"/>
          <p:cNvPicPr preferRelativeResize="0"/>
          <p:nvPr/>
        </p:nvPicPr>
        <p:blipFill rotWithShape="1">
          <a:blip r:embed="rId3">
            <a:alphaModFix/>
          </a:blip>
          <a:srcRect b="6430" l="0" r="0" t="15815"/>
          <a:stretch/>
        </p:blipFill>
        <p:spPr>
          <a:xfrm>
            <a:off x="4571975" y="1619250"/>
            <a:ext cx="4070401" cy="2539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b="1" lang="en"/>
              <a:t>Training &amp; Testing</a:t>
            </a:r>
            <a:endParaRPr b="1"/>
          </a:p>
        </p:txBody>
      </p:sp>
      <p:sp>
        <p:nvSpPr>
          <p:cNvPr id="146" name="Google Shape;146;p13"/>
          <p:cNvSpPr txBox="1"/>
          <p:nvPr>
            <p:ph idx="1" type="body"/>
          </p:nvPr>
        </p:nvSpPr>
        <p:spPr>
          <a:xfrm>
            <a:off x="272000" y="1364150"/>
            <a:ext cx="4757700" cy="29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Training:</a:t>
            </a:r>
            <a:endParaRPr>
              <a:solidFill>
                <a:schemeClr val="dk1"/>
              </a:solidFill>
            </a:endParaRPr>
          </a:p>
          <a:p>
            <a:pPr indent="-3429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AI learns from past data.</a:t>
            </a:r>
            <a:endParaRPr>
              <a:solidFill>
                <a:schemeClr val="dk1"/>
              </a:solidFill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Testing:</a:t>
            </a:r>
            <a:endParaRPr>
              <a:solidFill>
                <a:schemeClr val="dk1"/>
              </a:solidFill>
            </a:endParaRPr>
          </a:p>
          <a:p>
            <a:pPr indent="-3429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AI is tested using new data.</a:t>
            </a:r>
            <a:endParaRPr>
              <a:solidFill>
                <a:schemeClr val="dk1"/>
              </a:solidFill>
            </a:endParaRPr>
          </a:p>
          <a:p>
            <a:pPr indent="-3429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If performance is poor, improve model.</a:t>
            </a:r>
            <a:endParaRPr/>
          </a:p>
        </p:txBody>
      </p:sp>
      <p:pic>
        <p:nvPicPr>
          <p:cNvPr id="147" name="Google Shape;147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74300" y="1487625"/>
            <a:ext cx="2438400" cy="243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b="1" lang="en"/>
              <a:t>Stage 5 – Evaluation</a:t>
            </a:r>
            <a:endParaRPr b="1"/>
          </a:p>
        </p:txBody>
      </p:sp>
      <p:sp>
        <p:nvSpPr>
          <p:cNvPr id="153" name="Google Shape;153;p14"/>
          <p:cNvSpPr txBox="1"/>
          <p:nvPr>
            <p:ph idx="1" type="body"/>
          </p:nvPr>
        </p:nvSpPr>
        <p:spPr>
          <a:xfrm>
            <a:off x="285250" y="1390600"/>
            <a:ext cx="3897900" cy="28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Evaluation means checking whether the AI model works correctly.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We measure:</a:t>
            </a:r>
            <a:endParaRPr>
              <a:solidFill>
                <a:schemeClr val="dk1"/>
              </a:solidFill>
            </a:endParaRPr>
          </a:p>
          <a:p>
            <a:pPr indent="-3429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Accuracy</a:t>
            </a:r>
            <a:endParaRPr>
              <a:solidFill>
                <a:schemeClr val="dk1"/>
              </a:solidFill>
            </a:endParaRPr>
          </a:p>
          <a:p>
            <a:pPr indent="-3429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Efficiency</a:t>
            </a:r>
            <a:endParaRPr>
              <a:solidFill>
                <a:schemeClr val="dk1"/>
              </a:solidFill>
            </a:endParaRPr>
          </a:p>
          <a:p>
            <a:pPr indent="-3429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Reliability</a:t>
            </a:r>
            <a:endParaRPr/>
          </a:p>
        </p:txBody>
      </p:sp>
      <p:pic>
        <p:nvPicPr>
          <p:cNvPr id="154" name="Google Shape;15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45225" y="1639425"/>
            <a:ext cx="1864650" cy="1864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b="1" lang="en"/>
              <a:t>Improving the Model</a:t>
            </a:r>
            <a:endParaRPr b="1"/>
          </a:p>
        </p:txBody>
      </p:sp>
      <p:sp>
        <p:nvSpPr>
          <p:cNvPr id="160" name="Google Shape;160;p15"/>
          <p:cNvSpPr txBox="1"/>
          <p:nvPr>
            <p:ph idx="1" type="body"/>
          </p:nvPr>
        </p:nvSpPr>
        <p:spPr>
          <a:xfrm>
            <a:off x="285251" y="1403825"/>
            <a:ext cx="6060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If model is not accurate: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429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Collect more data</a:t>
            </a:r>
            <a:endParaRPr>
              <a:solidFill>
                <a:schemeClr val="dk1"/>
              </a:solidFill>
            </a:endParaRPr>
          </a:p>
          <a:p>
            <a:pPr indent="-3429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Improve data quality</a:t>
            </a:r>
            <a:endParaRPr>
              <a:solidFill>
                <a:schemeClr val="dk1"/>
              </a:solidFill>
            </a:endParaRPr>
          </a:p>
          <a:p>
            <a:pPr indent="-3429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Change algorithm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AI Project Cycle is iterative (repeats until improvement).</a:t>
            </a:r>
            <a:endParaRPr/>
          </a:p>
        </p:txBody>
      </p:sp>
      <p:pic>
        <p:nvPicPr>
          <p:cNvPr id="161" name="Google Shape;16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96598" y="1507138"/>
            <a:ext cx="2129225" cy="2129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ca40ed8a8d_0_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b="1" lang="en"/>
              <a:t>Complete Flow Diagram</a:t>
            </a:r>
            <a:endParaRPr b="1"/>
          </a:p>
        </p:txBody>
      </p:sp>
      <p:pic>
        <p:nvPicPr>
          <p:cNvPr descr="remove border a" id="167" name="Google Shape;167;g3ca40ed8a8d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6500" y="1412277"/>
            <a:ext cx="6357201" cy="3538675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g3ca40ed8a8d_0_0"/>
          <p:cNvSpPr/>
          <p:nvPr/>
        </p:nvSpPr>
        <p:spPr>
          <a:xfrm>
            <a:off x="3700250" y="3761675"/>
            <a:ext cx="261000" cy="92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b="1" lang="en"/>
              <a:t>Key Takeaways</a:t>
            </a:r>
            <a:endParaRPr b="1"/>
          </a:p>
        </p:txBody>
      </p:sp>
      <p:sp>
        <p:nvSpPr>
          <p:cNvPr id="174" name="Google Shape;174;p17"/>
          <p:cNvSpPr txBox="1"/>
          <p:nvPr>
            <p:ph idx="1" type="body"/>
          </p:nvPr>
        </p:nvSpPr>
        <p:spPr>
          <a:xfrm>
            <a:off x="311700" y="1417050"/>
            <a:ext cx="4400400" cy="18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✅ AI Project Cycle has 5 stages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✅ Each stage is important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✅ Data is central to AI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✅ The process is iterative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g3ca69a5bea2_0_31"/>
          <p:cNvPicPr preferRelativeResize="0"/>
          <p:nvPr/>
        </p:nvPicPr>
        <p:blipFill rotWithShape="1">
          <a:blip r:embed="rId3">
            <a:alphaModFix/>
          </a:blip>
          <a:srcRect b="2485" l="5087" r="0" t="21290"/>
          <a:stretch/>
        </p:blipFill>
        <p:spPr>
          <a:xfrm>
            <a:off x="0" y="-42337"/>
            <a:ext cx="9143994" cy="52052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g3ca69a5bea2_0_31"/>
          <p:cNvPicPr preferRelativeResize="0"/>
          <p:nvPr/>
        </p:nvPicPr>
        <p:blipFill rotWithShape="1">
          <a:blip r:embed="rId4">
            <a:alphaModFix/>
          </a:blip>
          <a:srcRect b="34636" l="0" r="0" t="36907"/>
          <a:stretch/>
        </p:blipFill>
        <p:spPr>
          <a:xfrm>
            <a:off x="7301537" y="4403035"/>
            <a:ext cx="1462774" cy="438953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g3ca69a5bea2_0_31"/>
          <p:cNvSpPr txBox="1"/>
          <p:nvPr/>
        </p:nvSpPr>
        <p:spPr>
          <a:xfrm>
            <a:off x="2747335" y="1273527"/>
            <a:ext cx="6502500" cy="115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Arial"/>
              <a:buNone/>
            </a:pPr>
            <a:r>
              <a:rPr b="1" i="0" lang="en" sz="580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THANK YOU</a:t>
            </a:r>
            <a:endParaRPr b="1" i="0" sz="5800" u="none" cap="none" strike="noStrike">
              <a:solidFill>
                <a:srgbClr val="000000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grpSp>
        <p:nvGrpSpPr>
          <p:cNvPr id="182" name="Google Shape;182;g3ca69a5bea2_0_31"/>
          <p:cNvGrpSpPr/>
          <p:nvPr/>
        </p:nvGrpSpPr>
        <p:grpSpPr>
          <a:xfrm>
            <a:off x="4077942" y="3137453"/>
            <a:ext cx="4667160" cy="1375707"/>
            <a:chOff x="3658225" y="4930225"/>
            <a:chExt cx="6438350" cy="1876050"/>
          </a:xfrm>
        </p:grpSpPr>
        <p:sp>
          <p:nvSpPr>
            <p:cNvPr id="183" name="Google Shape;183;g3ca69a5bea2_0_31"/>
            <p:cNvSpPr txBox="1"/>
            <p:nvPr/>
          </p:nvSpPr>
          <p:spPr>
            <a:xfrm>
              <a:off x="4833375" y="5236675"/>
              <a:ext cx="5263200" cy="156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00"/>
                <a:buFont typeface="Arial"/>
                <a:buNone/>
              </a:pPr>
              <a:r>
                <a:rPr b="0" i="0" lang="en" sz="3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https://aiclub.world</a:t>
              </a:r>
              <a:endParaRPr b="0" i="0" sz="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84" name="Google Shape;184;g3ca69a5bea2_0_3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658225" y="4930225"/>
              <a:ext cx="1372923" cy="137292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85" name="Google Shape;185;g3ca69a5bea2_0_31"/>
          <p:cNvGrpSpPr/>
          <p:nvPr/>
        </p:nvGrpSpPr>
        <p:grpSpPr>
          <a:xfrm>
            <a:off x="4231049" y="2591740"/>
            <a:ext cx="4514052" cy="1237563"/>
            <a:chOff x="3869437" y="5855787"/>
            <a:chExt cx="6227138" cy="1687663"/>
          </a:xfrm>
        </p:grpSpPr>
        <p:pic>
          <p:nvPicPr>
            <p:cNvPr id="186" name="Google Shape;186;g3ca69a5bea2_0_31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3869437" y="5855787"/>
              <a:ext cx="950500" cy="950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7" name="Google Shape;187;g3ca69a5bea2_0_31"/>
            <p:cNvSpPr txBox="1"/>
            <p:nvPr/>
          </p:nvSpPr>
          <p:spPr>
            <a:xfrm>
              <a:off x="4833375" y="5973850"/>
              <a:ext cx="5263200" cy="156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00"/>
                <a:buFont typeface="Arial"/>
                <a:buNone/>
              </a:pPr>
              <a:r>
                <a:rPr b="0" i="0" lang="en" sz="31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info@pyxeda.ai</a:t>
              </a:r>
              <a:endParaRPr b="0" i="0" sz="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