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OpenSans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77f82e0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a77f82e0b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77f8f24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a77f8f241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77f82e0be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a77f82e0be_1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780c30fb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a780c30fb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780c30fbe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a780c30fbe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a780c30fb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a780c30fbe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77f82e0b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a77f82e0be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>
            <p:ph idx="2" type="pic"/>
          </p:nvPr>
        </p:nvSpPr>
        <p:spPr>
          <a:xfrm>
            <a:off x="6323863" y="483729"/>
            <a:ext cx="5311808" cy="589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>
            <p:ph idx="2" type="pic"/>
          </p:nvPr>
        </p:nvSpPr>
        <p:spPr>
          <a:xfrm>
            <a:off x="7500939" y="1625601"/>
            <a:ext cx="3330574" cy="4251324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/>
          <p:nvPr>
            <p:ph idx="2" type="pic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/>
          <p:nvPr>
            <p:ph idx="2" type="pic"/>
          </p:nvPr>
        </p:nvSpPr>
        <p:spPr>
          <a:xfrm>
            <a:off x="998538" y="2214561"/>
            <a:ext cx="3043237" cy="3956051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3" type="pic"/>
          </p:nvPr>
        </p:nvSpPr>
        <p:spPr>
          <a:xfrm>
            <a:off x="5203826" y="2214561"/>
            <a:ext cx="3043237" cy="3956051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/>
          <p:nvPr>
            <p:ph idx="2" type="pic"/>
          </p:nvPr>
        </p:nvSpPr>
        <p:spPr>
          <a:xfrm>
            <a:off x="1219200" y="1433514"/>
            <a:ext cx="9753600" cy="2957512"/>
          </a:xfrm>
          <a:prstGeom prst="roundRect">
            <a:avLst>
              <a:gd fmla="val 63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/>
          <p:nvPr>
            <p:ph idx="2" type="pic"/>
          </p:nvPr>
        </p:nvSpPr>
        <p:spPr>
          <a:xfrm>
            <a:off x="1033462" y="1114424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7"/>
          <p:cNvSpPr/>
          <p:nvPr>
            <p:ph idx="3" type="pic"/>
          </p:nvPr>
        </p:nvSpPr>
        <p:spPr>
          <a:xfrm>
            <a:off x="3646488" y="1114424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7"/>
          <p:cNvSpPr/>
          <p:nvPr>
            <p:ph idx="4" type="pic"/>
          </p:nvPr>
        </p:nvSpPr>
        <p:spPr>
          <a:xfrm>
            <a:off x="1033462" y="3679825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7"/>
          <p:cNvSpPr/>
          <p:nvPr>
            <p:ph idx="5" type="pic"/>
          </p:nvPr>
        </p:nvSpPr>
        <p:spPr>
          <a:xfrm>
            <a:off x="3646488" y="3679825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>
            <p:ph idx="2" type="pic"/>
          </p:nvPr>
        </p:nvSpPr>
        <p:spPr>
          <a:xfrm>
            <a:off x="7783513" y="1100138"/>
            <a:ext cx="3505200" cy="5045075"/>
          </a:xfrm>
          <a:prstGeom prst="plaque">
            <a:avLst>
              <a:gd fmla="val 2243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>
            <p:ph idx="2" type="pic"/>
          </p:nvPr>
        </p:nvSpPr>
        <p:spPr>
          <a:xfrm>
            <a:off x="4648200" y="2973388"/>
            <a:ext cx="2895600" cy="2347912"/>
          </a:xfrm>
          <a:prstGeom prst="round2DiagRect">
            <a:avLst>
              <a:gd fmla="val 50000" name="adj1"/>
              <a:gd fmla="val 13481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>
            <p:ph idx="2" type="pic"/>
          </p:nvPr>
        </p:nvSpPr>
        <p:spPr>
          <a:xfrm>
            <a:off x="5548624" y="1508794"/>
            <a:ext cx="5777604" cy="44403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flowChartDelay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>
            <p:ph idx="2" type="pic"/>
          </p:nvPr>
        </p:nvSpPr>
        <p:spPr>
          <a:xfrm>
            <a:off x="1474788" y="1322388"/>
            <a:ext cx="3292475" cy="4481512"/>
          </a:xfrm>
          <a:prstGeom prst="roundRect">
            <a:avLst>
              <a:gd fmla="val 1853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>
            <p:ph idx="2" type="pic"/>
          </p:nvPr>
        </p:nvSpPr>
        <p:spPr>
          <a:xfrm>
            <a:off x="7205662" y="0"/>
            <a:ext cx="498633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>
            <p:ph idx="2" type="pic"/>
          </p:nvPr>
        </p:nvSpPr>
        <p:spPr>
          <a:xfrm>
            <a:off x="0" y="3879850"/>
            <a:ext cx="12191999" cy="2978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>
            <p:ph idx="2" type="pic"/>
          </p:nvPr>
        </p:nvSpPr>
        <p:spPr>
          <a:xfrm>
            <a:off x="989013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6"/>
          <p:cNvSpPr/>
          <p:nvPr>
            <p:ph idx="3" type="pic"/>
          </p:nvPr>
        </p:nvSpPr>
        <p:spPr>
          <a:xfrm>
            <a:off x="3551237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6"/>
          <p:cNvSpPr/>
          <p:nvPr>
            <p:ph idx="4" type="pic"/>
          </p:nvPr>
        </p:nvSpPr>
        <p:spPr>
          <a:xfrm>
            <a:off x="6176962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6"/>
          <p:cNvSpPr/>
          <p:nvPr>
            <p:ph idx="5" type="pic"/>
          </p:nvPr>
        </p:nvSpPr>
        <p:spPr>
          <a:xfrm>
            <a:off x="8802688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/>
          <p:nvPr>
            <p:ph idx="2" type="pic"/>
          </p:nvPr>
        </p:nvSpPr>
        <p:spPr>
          <a:xfrm>
            <a:off x="6786563" y="747712"/>
            <a:ext cx="1603375" cy="1341437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7"/>
          <p:cNvSpPr/>
          <p:nvPr>
            <p:ph idx="3" type="pic"/>
          </p:nvPr>
        </p:nvSpPr>
        <p:spPr>
          <a:xfrm>
            <a:off x="8389938" y="1735137"/>
            <a:ext cx="3027362" cy="3094037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7"/>
          <p:cNvSpPr/>
          <p:nvPr>
            <p:ph idx="4" type="pic"/>
          </p:nvPr>
        </p:nvSpPr>
        <p:spPr>
          <a:xfrm>
            <a:off x="6786563" y="4092574"/>
            <a:ext cx="2890837" cy="2017713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>
            <p:ph idx="2" type="pic"/>
          </p:nvPr>
        </p:nvSpPr>
        <p:spPr>
          <a:xfrm>
            <a:off x="5305425" y="4170364"/>
            <a:ext cx="1895475" cy="180816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8"/>
          <p:cNvSpPr/>
          <p:nvPr>
            <p:ph idx="3" type="pic"/>
          </p:nvPr>
        </p:nvSpPr>
        <p:spPr>
          <a:xfrm>
            <a:off x="6288088" y="-1995489"/>
            <a:ext cx="7237412" cy="6910389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/>
          <p:nvPr>
            <p:ph idx="2" type="pic"/>
          </p:nvPr>
        </p:nvSpPr>
        <p:spPr>
          <a:xfrm>
            <a:off x="915988" y="1141413"/>
            <a:ext cx="3879850" cy="216376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9"/>
          <p:cNvSpPr/>
          <p:nvPr>
            <p:ph idx="3" type="pic"/>
          </p:nvPr>
        </p:nvSpPr>
        <p:spPr>
          <a:xfrm>
            <a:off x="915988" y="3795713"/>
            <a:ext cx="3879850" cy="216376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/>
          <p:nvPr>
            <p:ph idx="2" type="pic"/>
          </p:nvPr>
        </p:nvSpPr>
        <p:spPr>
          <a:xfrm>
            <a:off x="5159375" y="0"/>
            <a:ext cx="7032625" cy="6858000"/>
          </a:xfrm>
          <a:prstGeom prst="trapezoid">
            <a:avLst>
              <a:gd fmla="val 4115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/>
          <p:nvPr>
            <p:ph idx="2" type="pic"/>
          </p:nvPr>
        </p:nvSpPr>
        <p:spPr>
          <a:xfrm>
            <a:off x="8064500" y="1158874"/>
            <a:ext cx="2271713" cy="4779963"/>
          </a:xfrm>
          <a:prstGeom prst="roundRect">
            <a:avLst>
              <a:gd fmla="val 8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/>
          <p:nvPr>
            <p:ph idx="2" type="pic"/>
          </p:nvPr>
        </p:nvSpPr>
        <p:spPr>
          <a:xfrm>
            <a:off x="4965700" y="1089025"/>
            <a:ext cx="2271713" cy="4779963"/>
          </a:xfrm>
          <a:prstGeom prst="roundRect">
            <a:avLst>
              <a:gd fmla="val 8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/>
          <p:nvPr>
            <p:ph idx="2" type="pic"/>
          </p:nvPr>
        </p:nvSpPr>
        <p:spPr>
          <a:xfrm>
            <a:off x="-177800" y="1535112"/>
            <a:ext cx="5451475" cy="29924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/>
          <p:nvPr>
            <p:ph idx="2" type="pic"/>
          </p:nvPr>
        </p:nvSpPr>
        <p:spPr>
          <a:xfrm>
            <a:off x="7102475" y="1392238"/>
            <a:ext cx="6427788" cy="40290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9" Type="http://schemas.openxmlformats.org/officeDocument/2006/relationships/image" Target="../media/image4.jp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5.jpg"/><Relationship Id="rId8" Type="http://schemas.openxmlformats.org/officeDocument/2006/relationships/image" Target="../media/image2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9.jpg"/><Relationship Id="rId5" Type="http://schemas.openxmlformats.org/officeDocument/2006/relationships/image" Target="../media/image15.jp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/>
          <p:nvPr/>
        </p:nvSpPr>
        <p:spPr>
          <a:xfrm>
            <a:off x="625537" y="2139900"/>
            <a:ext cx="5765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8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Welcome to </a:t>
            </a:r>
            <a:endParaRPr sz="58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8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Types of AI Learning </a:t>
            </a:r>
            <a:endParaRPr sz="58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sz="58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68" name="Google Shape;68;p25"/>
          <p:cNvSpPr/>
          <p:nvPr/>
        </p:nvSpPr>
        <p:spPr>
          <a:xfrm>
            <a:off x="-905449" y="-430249"/>
            <a:ext cx="8211771" cy="2267927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25"/>
          <p:cNvPicPr preferRelativeResize="0"/>
          <p:nvPr/>
        </p:nvPicPr>
        <p:blipFill rotWithShape="1">
          <a:blip r:embed="rId3">
            <a:alphaModFix/>
          </a:blip>
          <a:srcRect b="0" l="0" r="57643" t="0"/>
          <a:stretch/>
        </p:blipFill>
        <p:spPr>
          <a:xfrm>
            <a:off x="7082300" y="0"/>
            <a:ext cx="516412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525" y="5970100"/>
            <a:ext cx="1640376" cy="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5" y="3891975"/>
            <a:ext cx="4275672" cy="2876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475" y="913900"/>
            <a:ext cx="4072526" cy="287637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6"/>
          <p:cNvSpPr txBox="1"/>
          <p:nvPr/>
        </p:nvSpPr>
        <p:spPr>
          <a:xfrm>
            <a:off x="4532125" y="1853275"/>
            <a:ext cx="7286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0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Types of Learning 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6"/>
          <p:cNvSpPr/>
          <p:nvPr/>
        </p:nvSpPr>
        <p:spPr>
          <a:xfrm>
            <a:off x="-244150" y="-404126"/>
            <a:ext cx="11252514" cy="2390308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6"/>
          <p:cNvSpPr/>
          <p:nvPr/>
        </p:nvSpPr>
        <p:spPr>
          <a:xfrm flipH="1">
            <a:off x="918938" y="5061874"/>
            <a:ext cx="11591487" cy="2251140"/>
          </a:xfrm>
          <a:custGeom>
            <a:rect b="b" l="l" r="r" t="t"/>
            <a:pathLst>
              <a:path extrusionOk="0" h="2480595" w="9802526">
                <a:moveTo>
                  <a:pt x="708089" y="421724"/>
                </a:moveTo>
                <a:cubicBezTo>
                  <a:pt x="1086870" y="47382"/>
                  <a:pt x="2343060" y="-88741"/>
                  <a:pt x="3016283" y="57740"/>
                </a:cubicBezTo>
                <a:cubicBezTo>
                  <a:pt x="3689506" y="204221"/>
                  <a:pt x="4197013" y="1133417"/>
                  <a:pt x="4747428" y="1300613"/>
                </a:cubicBezTo>
                <a:cubicBezTo>
                  <a:pt x="5297843" y="1467809"/>
                  <a:pt x="5917801" y="1003211"/>
                  <a:pt x="6318776" y="1060916"/>
                </a:cubicBezTo>
                <a:cubicBezTo>
                  <a:pt x="6719751" y="1118621"/>
                  <a:pt x="6807048" y="1552148"/>
                  <a:pt x="7153277" y="1646843"/>
                </a:cubicBezTo>
                <a:cubicBezTo>
                  <a:pt x="7499506" y="1741538"/>
                  <a:pt x="8027728" y="1516637"/>
                  <a:pt x="8396151" y="1629087"/>
                </a:cubicBezTo>
                <a:cubicBezTo>
                  <a:pt x="8764574" y="1741538"/>
                  <a:pt x="10639242" y="2209096"/>
                  <a:pt x="9363817" y="2321546"/>
                </a:cubicBezTo>
                <a:cubicBezTo>
                  <a:pt x="8088392" y="2433996"/>
                  <a:pt x="2181782" y="2623386"/>
                  <a:pt x="743599" y="2303790"/>
                </a:cubicBezTo>
                <a:cubicBezTo>
                  <a:pt x="-694584" y="1984194"/>
                  <a:pt x="329308" y="796066"/>
                  <a:pt x="708089" y="421724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6"/>
          <p:cNvSpPr txBox="1"/>
          <p:nvPr/>
        </p:nvSpPr>
        <p:spPr>
          <a:xfrm>
            <a:off x="1127476" y="3709475"/>
            <a:ext cx="49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4350" y="6019800"/>
            <a:ext cx="1640376" cy="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/>
          <p:nvPr/>
        </p:nvSpPr>
        <p:spPr>
          <a:xfrm>
            <a:off x="-122475" y="-21775"/>
            <a:ext cx="36225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27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88" name="Google Shape;88;p27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7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7"/>
          <p:cNvSpPr txBox="1"/>
          <p:nvPr/>
        </p:nvSpPr>
        <p:spPr>
          <a:xfrm>
            <a:off x="-132075" y="2486304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AIs learn in different ways</a:t>
            </a:r>
            <a:endParaRPr sz="44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93" name="Google Shape;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825" y="1062007"/>
            <a:ext cx="7005213" cy="4733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4350" y="6019800"/>
            <a:ext cx="1640376" cy="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050" y="311725"/>
            <a:ext cx="5031799" cy="20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8"/>
          <p:cNvSpPr/>
          <p:nvPr/>
        </p:nvSpPr>
        <p:spPr>
          <a:xfrm>
            <a:off x="-122475" y="-21775"/>
            <a:ext cx="37557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28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02" name="Google Shape;102;p28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8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8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8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8"/>
          <p:cNvSpPr txBox="1"/>
          <p:nvPr/>
        </p:nvSpPr>
        <p:spPr>
          <a:xfrm>
            <a:off x="445775" y="1698875"/>
            <a:ext cx="2937900" cy="30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All AIs learn from data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07" name="Google Shape;1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7700" y="620605"/>
            <a:ext cx="3007200" cy="1691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6725" y="2572123"/>
            <a:ext cx="3755699" cy="2112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5626" y="4944695"/>
            <a:ext cx="2937901" cy="1652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0875" y="4376567"/>
            <a:ext cx="2937900" cy="2075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0874" y="2473500"/>
            <a:ext cx="3044147" cy="1736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51504" y="4348937"/>
            <a:ext cx="2936071" cy="16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70987" y="2633513"/>
            <a:ext cx="2785651" cy="1569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34350" y="6147700"/>
            <a:ext cx="1640376" cy="44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/>
          <p:nvPr/>
        </p:nvSpPr>
        <p:spPr>
          <a:xfrm>
            <a:off x="-122475" y="-21775"/>
            <a:ext cx="36225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29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21" name="Google Shape;121;p29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9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9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29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9"/>
          <p:cNvSpPr txBox="1"/>
          <p:nvPr/>
        </p:nvSpPr>
        <p:spPr>
          <a:xfrm>
            <a:off x="-122475" y="177872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Supervised 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Learning 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26" name="Google Shape;126;p29"/>
          <p:cNvSpPr txBox="1"/>
          <p:nvPr/>
        </p:nvSpPr>
        <p:spPr>
          <a:xfrm>
            <a:off x="384550" y="335432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Learn from 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the right 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answer.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27" name="Google Shape;127;p29"/>
          <p:cNvGrpSpPr/>
          <p:nvPr/>
        </p:nvGrpSpPr>
        <p:grpSpPr>
          <a:xfrm>
            <a:off x="4083811" y="76188"/>
            <a:ext cx="2403764" cy="2196445"/>
            <a:chOff x="6821950" y="68050"/>
            <a:chExt cx="2567027" cy="2490300"/>
          </a:xfrm>
        </p:grpSpPr>
        <p:sp>
          <p:nvSpPr>
            <p:cNvPr id="128" name="Google Shape;128;p29"/>
            <p:cNvSpPr/>
            <p:nvPr/>
          </p:nvSpPr>
          <p:spPr>
            <a:xfrm>
              <a:off x="6821950" y="68050"/>
              <a:ext cx="2502900" cy="2490300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" name="Google Shape;12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85991" y="463581"/>
              <a:ext cx="2502982" cy="14501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9"/>
            <p:cNvSpPr txBox="1"/>
            <p:nvPr/>
          </p:nvSpPr>
          <p:spPr>
            <a:xfrm>
              <a:off x="7343577" y="1913727"/>
              <a:ext cx="2045400" cy="3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>
                  <a:solidFill>
                    <a:srgbClr val="6AA84F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Predict futures </a:t>
              </a:r>
              <a:endParaRPr b="0" i="0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9"/>
          <p:cNvGrpSpPr/>
          <p:nvPr/>
        </p:nvGrpSpPr>
        <p:grpSpPr>
          <a:xfrm>
            <a:off x="4069451" y="2339816"/>
            <a:ext cx="2414084" cy="2196445"/>
            <a:chOff x="9515050" y="125200"/>
            <a:chExt cx="2578048" cy="2490300"/>
          </a:xfrm>
        </p:grpSpPr>
        <p:sp>
          <p:nvSpPr>
            <p:cNvPr id="132" name="Google Shape;132;p29"/>
            <p:cNvSpPr/>
            <p:nvPr/>
          </p:nvSpPr>
          <p:spPr>
            <a:xfrm>
              <a:off x="9552625" y="125200"/>
              <a:ext cx="2502900" cy="2490300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" name="Google Shape;133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515050" y="463552"/>
              <a:ext cx="2578048" cy="1450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29"/>
            <p:cNvSpPr txBox="1"/>
            <p:nvPr/>
          </p:nvSpPr>
          <p:spPr>
            <a:xfrm>
              <a:off x="10020026" y="1959975"/>
              <a:ext cx="1798500" cy="3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>
                  <a:solidFill>
                    <a:srgbClr val="F1C232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Detect anomalies</a:t>
              </a:r>
              <a:endParaRPr b="0" i="0" sz="1400" u="none" cap="none" strike="noStrik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9"/>
          <p:cNvGrpSpPr/>
          <p:nvPr/>
        </p:nvGrpSpPr>
        <p:grpSpPr>
          <a:xfrm>
            <a:off x="3993334" y="4652810"/>
            <a:ext cx="2566983" cy="2196445"/>
            <a:chOff x="3328161" y="4213925"/>
            <a:chExt cx="2741331" cy="2490300"/>
          </a:xfrm>
        </p:grpSpPr>
        <p:sp>
          <p:nvSpPr>
            <p:cNvPr id="136" name="Google Shape;136;p29"/>
            <p:cNvSpPr/>
            <p:nvPr/>
          </p:nvSpPr>
          <p:spPr>
            <a:xfrm>
              <a:off x="3447375" y="4213925"/>
              <a:ext cx="2502900" cy="2490300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" name="Google Shape;137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28161" y="4466275"/>
              <a:ext cx="2741331" cy="1541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29"/>
            <p:cNvSpPr txBox="1"/>
            <p:nvPr/>
          </p:nvSpPr>
          <p:spPr>
            <a:xfrm>
              <a:off x="3983344" y="5985921"/>
              <a:ext cx="1568400" cy="3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>
                  <a:solidFill>
                    <a:srgbClr val="1155CC"/>
                  </a:solidFill>
                  <a:latin typeface="Fredoka One"/>
                  <a:ea typeface="Fredoka One"/>
                  <a:cs typeface="Fredoka One"/>
                  <a:sym typeface="Fredoka One"/>
                </a:rPr>
                <a:t>Classify types</a:t>
              </a:r>
              <a:endParaRPr>
                <a:solidFill>
                  <a:srgbClr val="1155CC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>
                <a:solidFill>
                  <a:srgbClr val="1155CC"/>
                </a:solidFill>
                <a:latin typeface="Fredoka One"/>
                <a:ea typeface="Fredoka One"/>
                <a:cs typeface="Fredoka One"/>
                <a:sym typeface="Fredoka One"/>
              </a:endParaRPr>
            </a:p>
          </p:txBody>
        </p:sp>
      </p:grpSp>
      <p:pic>
        <p:nvPicPr>
          <p:cNvPr id="139" name="Google Shape;13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3824" y="3278114"/>
            <a:ext cx="3814199" cy="245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3250" y="488150"/>
            <a:ext cx="5035325" cy="25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34350" y="6019800"/>
            <a:ext cx="1640376" cy="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/>
          <p:nvPr/>
        </p:nvSpPr>
        <p:spPr>
          <a:xfrm>
            <a:off x="-122475" y="-21775"/>
            <a:ext cx="42453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30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48" name="Google Shape;148;p30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0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0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30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0"/>
          <p:cNvSpPr txBox="1"/>
          <p:nvPr/>
        </p:nvSpPr>
        <p:spPr>
          <a:xfrm>
            <a:off x="33975" y="1765125"/>
            <a:ext cx="39324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Uns</a:t>
            </a: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upervised 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Learning 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384550" y="335432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Figure out patterns.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4515525" y="3425900"/>
            <a:ext cx="27102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/>
          <p:nvPr/>
        </p:nvSpPr>
        <p:spPr>
          <a:xfrm>
            <a:off x="4552600" y="783200"/>
            <a:ext cx="27102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0"/>
          <p:cNvSpPr txBox="1"/>
          <p:nvPr/>
        </p:nvSpPr>
        <p:spPr>
          <a:xfrm>
            <a:off x="5249750" y="2669100"/>
            <a:ext cx="1385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F1C232"/>
                </a:solidFill>
                <a:latin typeface="Fredoka One"/>
                <a:ea typeface="Fredoka One"/>
                <a:cs typeface="Fredoka One"/>
                <a:sym typeface="Fredoka One"/>
              </a:rPr>
              <a:t>Languages</a:t>
            </a:r>
            <a:endParaRPr b="0" i="0" sz="18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5348802" y="5271525"/>
            <a:ext cx="11178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FF00FF"/>
                </a:solidFill>
                <a:latin typeface="Fredoka One"/>
                <a:ea typeface="Fredoka One"/>
                <a:cs typeface="Fredoka One"/>
                <a:sym typeface="Fredoka One"/>
              </a:rPr>
              <a:t>Videos</a:t>
            </a:r>
            <a:endParaRPr b="0" i="0" sz="1800" cap="none" strike="noStrik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6825" y="983731"/>
            <a:ext cx="3112352" cy="1609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387" y="3802325"/>
            <a:ext cx="2432224" cy="136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9175" y="178381"/>
            <a:ext cx="2937946" cy="192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0"/>
          <p:cNvPicPr preferRelativeResize="0"/>
          <p:nvPr/>
        </p:nvPicPr>
        <p:blipFill rotWithShape="1">
          <a:blip r:embed="rId6">
            <a:alphaModFix/>
          </a:blip>
          <a:srcRect b="0" l="2191" r="0" t="0"/>
          <a:stretch/>
        </p:blipFill>
        <p:spPr>
          <a:xfrm>
            <a:off x="7650163" y="2330125"/>
            <a:ext cx="3112349" cy="158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8425" y="4074900"/>
            <a:ext cx="3932402" cy="1776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0"/>
          <p:cNvPicPr preferRelativeResize="0"/>
          <p:nvPr/>
        </p:nvPicPr>
        <p:blipFill rotWithShape="1">
          <a:blip r:embed="rId8">
            <a:alphaModFix/>
          </a:blip>
          <a:srcRect b="0" l="52207" r="13113" t="0"/>
          <a:stretch/>
        </p:blipFill>
        <p:spPr>
          <a:xfrm>
            <a:off x="10804625" y="1535105"/>
            <a:ext cx="1234974" cy="238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34350" y="6019800"/>
            <a:ext cx="1640376" cy="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-122475" y="-21775"/>
            <a:ext cx="42453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31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71" name="Google Shape;171;p31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1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1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31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-122475" y="1778725"/>
            <a:ext cx="43272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Reinforcement</a:t>
            </a: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 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Learning</a:t>
            </a: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 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6" name="Google Shape;176;p31"/>
          <p:cNvSpPr txBox="1"/>
          <p:nvPr/>
        </p:nvSpPr>
        <p:spPr>
          <a:xfrm>
            <a:off x="384550" y="335432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Learn by trying.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77" name="Google Shape;177;p31"/>
          <p:cNvPicPr preferRelativeResize="0"/>
          <p:nvPr/>
        </p:nvPicPr>
        <p:blipFill rotWithShape="1">
          <a:blip r:embed="rId3">
            <a:alphaModFix/>
          </a:blip>
          <a:srcRect b="0" l="0" r="28392" t="0"/>
          <a:stretch/>
        </p:blipFill>
        <p:spPr>
          <a:xfrm>
            <a:off x="8533212" y="1778729"/>
            <a:ext cx="3312900" cy="3086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8675" y="898875"/>
            <a:ext cx="3910544" cy="260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8675" y="3666825"/>
            <a:ext cx="3910550" cy="2672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34350" y="6019800"/>
            <a:ext cx="1640376" cy="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/>
        </p:nvSpPr>
        <p:spPr>
          <a:xfrm>
            <a:off x="3135000" y="2217475"/>
            <a:ext cx="5922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Thank you!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2"/>
          <p:cNvSpPr/>
          <p:nvPr/>
        </p:nvSpPr>
        <p:spPr>
          <a:xfrm>
            <a:off x="-570725" y="-172826"/>
            <a:ext cx="11252514" cy="2390308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2"/>
          <p:cNvSpPr/>
          <p:nvPr/>
        </p:nvSpPr>
        <p:spPr>
          <a:xfrm flipH="1">
            <a:off x="742038" y="4933424"/>
            <a:ext cx="11591487" cy="2251140"/>
          </a:xfrm>
          <a:custGeom>
            <a:rect b="b" l="l" r="r" t="t"/>
            <a:pathLst>
              <a:path extrusionOk="0" h="2480595" w="9802526">
                <a:moveTo>
                  <a:pt x="708089" y="421724"/>
                </a:moveTo>
                <a:cubicBezTo>
                  <a:pt x="1086870" y="47382"/>
                  <a:pt x="2343060" y="-88741"/>
                  <a:pt x="3016283" y="57740"/>
                </a:cubicBezTo>
                <a:cubicBezTo>
                  <a:pt x="3689506" y="204221"/>
                  <a:pt x="4197013" y="1133417"/>
                  <a:pt x="4747428" y="1300613"/>
                </a:cubicBezTo>
                <a:cubicBezTo>
                  <a:pt x="5297843" y="1467809"/>
                  <a:pt x="5917801" y="1003211"/>
                  <a:pt x="6318776" y="1060916"/>
                </a:cubicBezTo>
                <a:cubicBezTo>
                  <a:pt x="6719751" y="1118621"/>
                  <a:pt x="6807048" y="1552148"/>
                  <a:pt x="7153277" y="1646843"/>
                </a:cubicBezTo>
                <a:cubicBezTo>
                  <a:pt x="7499506" y="1741538"/>
                  <a:pt x="8027728" y="1516637"/>
                  <a:pt x="8396151" y="1629087"/>
                </a:cubicBezTo>
                <a:cubicBezTo>
                  <a:pt x="8764574" y="1741538"/>
                  <a:pt x="10639242" y="2209096"/>
                  <a:pt x="9363817" y="2321546"/>
                </a:cubicBezTo>
                <a:cubicBezTo>
                  <a:pt x="8088392" y="2433996"/>
                  <a:pt x="2181782" y="2623386"/>
                  <a:pt x="743599" y="2303790"/>
                </a:cubicBezTo>
                <a:cubicBezTo>
                  <a:pt x="-694584" y="1984194"/>
                  <a:pt x="329308" y="796066"/>
                  <a:pt x="708089" y="421724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1127476" y="3709475"/>
            <a:ext cx="49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3019275" y="4389175"/>
            <a:ext cx="79635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40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https://www.corp.aiclub.world/</a:t>
            </a:r>
            <a:endParaRPr b="0" i="0" sz="4000" u="none" cap="none" strike="noStrike">
              <a:solidFill>
                <a:srgbClr val="F04E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775" y="3619475"/>
            <a:ext cx="2018774" cy="201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34350" y="520150"/>
            <a:ext cx="1640376" cy="44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